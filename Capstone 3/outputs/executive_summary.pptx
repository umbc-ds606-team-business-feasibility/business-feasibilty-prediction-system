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Metropolitan Business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1338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5B4FC"/>
                </a:solidFill>
              </a:rPr>
              <a:t>Executive Summary  ·  CBP 2023 + ACS 2024 + BLS 2024 + BEA RPP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2E8F0"/>
                </a:solidFill>
              </a:rPr>
              <a:t>386 metros  ·  9 business categories  ·  369,496 CBP rows analysed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Data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Four official public sources, all government-provided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Provider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County Business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U.S. Census Bureau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369,496 rows, 925 metro/micro 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American Community Survey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U.S. Census Bureau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393 metros — income + population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BLS Metro Unemployment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2020-2024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Bureau of Labor 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5-year annual unemployment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BEA Regional Price Parities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Bureau of Economic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All-items + Housing index per MSA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02336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4155"/>
                </a:solidFill>
              </a:rPr>
              <a:t>•  BEA RPP is the cost-of-living lever — it shifts the rankings to favor affordable metros.</a:t>
            </a:r>
          </a:p>
          <a:p>
            <a:r>
              <a:rPr sz="1300">
                <a:solidFill>
                  <a:srgbClr val="334155"/>
                </a:solidFill>
              </a:rPr>
              <a:t>•  After RPP integration: San Francisco fell from #2 to #4; Midland TX rose to #2.</a:t>
            </a:r>
          </a:p>
          <a:p>
            <a:r>
              <a:rPr sz="1300">
                <a:solidFill>
                  <a:srgbClr val="334155"/>
                </a:solidFill>
              </a:rPr>
              <a:t>•  All four sources are publicly available with no licensing cost.</a:t>
            </a:r>
          </a:p>
          <a:p>
            <a:r>
              <a:rPr sz="1300">
                <a:solidFill>
                  <a:srgbClr val="334155"/>
                </a:solidFill>
              </a:rPr>
              <a:t>•  Pipeline is reproducible end-to-end via `python3 main.py`.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What the data tells us about U.S. metro feasibility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8288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METROS ANALYSED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386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46304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463040"/>
            <a:ext cx="18288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62763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BUSINESS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920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4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6304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62763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HIGH-OPPORTUNITY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920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116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6304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63040"/>
            <a:ext cx="18288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62763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AVG MEDIAN INCOME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920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$76,409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46304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46304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62763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AVG UNEMPLOYMENT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920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4.04%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95560" y="146304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95560" y="1463040"/>
            <a:ext cx="182880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162763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CBP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1920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369,496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92608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92608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090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TEST 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383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0.8333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31720" y="292608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31720" y="292608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3090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TEST F1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3383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0.7451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292608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292608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3090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TEST ROC-AUC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3383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0.9020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292608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292608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090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TEST R²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383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0.5128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292608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292608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3090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AVG COL INDEX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383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94.9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95560" y="2926080"/>
            <a:ext cx="18288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195560" y="2926080"/>
            <a:ext cx="18288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95560" y="3090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AVG REAL INC.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5560" y="3383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$80,096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Top 10 Metros by Opportunity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After cost-of-living adjustment (BEA RPP)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4156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Opp.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Income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Real Inc.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CoL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Unemp.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San Jose-Sunnyvale-Santa Clara,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$164,801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$149,245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110.4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4.20%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Midland, TX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South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0.617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$89,627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$93,573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95.8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2.90%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Bozeman, 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$103,918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$101,374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102.5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2.30%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San Francisco-Oakland-Fremont, CA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West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0.577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$135,590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$117,279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115.6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4.20%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Sioux Falls, SD-MN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Midwest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$82,509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$91,038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90.6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Bismarck, 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Midwest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0.571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$86,769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$95,325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91.0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2.30%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Casper, WY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$71,381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$76,076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93.8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3.30%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Bridgeport-Stamford-Danbury, 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Northeast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0.570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$116,402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$108,925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106.9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3.10%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Minot, 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Midwest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$70,782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$81,332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Rapid City, SD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Midwest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0.556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$78,056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$87,546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89.2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1.80%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Best Markets per Business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Top metro for each of the 9 business categories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Business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Top metro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Construction / Trades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Bozeman, 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90.1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Established Leader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Education / Childcare Services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Boulder, CO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80.2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Established Leader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Finance / Insurance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Bloomington, 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Established Leader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Health Clinic / Care 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Boulder, CO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82.4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Established Leader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Professional Services Firm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Boulder, 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Established Leader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Restaurant / Food Service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Bozeman, MT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82.7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Established Leader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Retail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Bozeman, 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Established Leader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Salon / Repair / Personal Services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Washington-Arlington-Alexandria, DC-VA-MD-WV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84.0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Established Leader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Technology / IT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San Jose-Sunnyvale-Santa Clara,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96.9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Established Leader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Metro Clusters (K-Means k=5)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Five economic archetypes auto-named from feature centroids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685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Cluster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Metros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Avg Opp.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Avg Income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Avg Unemp.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Major Metro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$106,296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4.05%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Elite Opportunity Market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0.486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$87,420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3.52%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Mixed Market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$71,818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3.80%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Business-Dense Market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0.446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$82,436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4.05%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High-Unemployment 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0.413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$66,417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4.47%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luster_p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Validation comparison &amp; winning models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Classifier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 F1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 AUC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LogisticRegression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VotingClassifier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76.9%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97.3%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GradientBoostingClassifier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91.6%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RandomForestClassifier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54.5%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94.8%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Regressor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 RMSE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 R²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RandomForestRegressor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GradientBoostingRegressor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0.743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0.574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LinearRegression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lassifier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0"/>
            <a:ext cx="5486400" cy="2743200"/>
          </a:xfrm>
          <a:prstGeom prst="rect">
            <a:avLst/>
          </a:prstGeom>
        </p:spPr>
      </p:pic>
      <p:pic>
        <p:nvPicPr>
          <p:cNvPr id="8" name="Picture 7" descr="classifier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6576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Top Drivers of Metro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Classifier feature importance (top 12)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3516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Importance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Employment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2.7851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Average Employees per Establishment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-2.2563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Establishments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-2.1846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Cost of Living Index (BEA RPP, 100 = US avg)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-2.1249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Annual Payroll per Employee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1.9785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Payroll per Capita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1.8089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Employment per 100 Residents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1.7910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Unemployment Trend Slope (2020-2024)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1.5298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Housing Cost Index (BEA RPP, 100 = US avg)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1.2872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Population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-1.2562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Employment Share: Agriculture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-1.1297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Employment Share: Mining &amp; Oil/Gas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</a:rPr>
                        <a:t>0.5855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lassifier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